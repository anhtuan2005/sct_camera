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32fe9128b44446" /><Relationship Type="http://schemas.openxmlformats.org/officeDocument/2006/relationships/extended-properties" Target="/docProps/app.xml" Id="R804ebeaa644a4222" /><Relationship Type="http://schemas.openxmlformats.org/officeDocument/2006/relationships/officeDocument" Target="/ppt/presentation.xml" Id="Rb73e0c6d08624d6d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ac34477b817d48d0"/>
  </p:sldMasterIdLst>
  <p:notesMasterIdLst>
    <p:notesMasterId xmlns:r="http://schemas.openxmlformats.org/officeDocument/2006/relationships" r:id="Rc323606cbfc4436b"/>
  </p:notesMasterIdLst>
  <p:sldIdLst>
    <p:sldId xmlns:r="http://schemas.openxmlformats.org/officeDocument/2006/relationships" id="256" r:id="R289ae1cfe5624884"/>
  </p:sldIdLst>
  <p:sldSz cx="18288000" cy="10287000"/>
  <p:notesSz cx="6858000" cy="9144000"/>
  <p:embeddedFontLst>
    <p:embeddedFont>
      <p:font typeface="Arial Bold"/>
      <p:regular xmlns:r="http://schemas.openxmlformats.org/officeDocument/2006/relationships" r:id="Rea5f48952b134ef4"/>
      <p:bold xmlns:r="http://schemas.openxmlformats.org/officeDocument/2006/relationships" r:id="Rc3c4a6c9f4a94422"/>
    </p:embeddedFont>
    <p:embeddedFont>
      <p:font typeface="Arial Italics"/>
      <p:regular xmlns:r="http://schemas.openxmlformats.org/officeDocument/2006/relationships" r:id="R401d5b2c01f94e8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747054ee5e47ac" /><Relationship Type="http://schemas.openxmlformats.org/officeDocument/2006/relationships/slideMaster" Target="/ppt/slideMasters/slideMaster1.xml" Id="Rac34477b817d48d0" /><Relationship Type="http://schemas.openxmlformats.org/officeDocument/2006/relationships/notesMaster" Target="/ppt/notesMasters/notesMaster1.xml" Id="Rc323606cbfc4436b" /><Relationship Type="http://schemas.openxmlformats.org/officeDocument/2006/relationships/presProps" Target="/ppt/presProps.xml" Id="R92b8dca459fb445e" /><Relationship Type="http://schemas.openxmlformats.org/officeDocument/2006/relationships/viewProps" Target="/ppt/viewProps.xml" Id="Rdea50141159245b4" /><Relationship Type="http://schemas.openxmlformats.org/officeDocument/2006/relationships/tableStyles" Target="/ppt/tableStyles.xml" Id="R24126a835429481c" /><Relationship Type="http://schemas.openxmlformats.org/officeDocument/2006/relationships/font" Target="/ppt/fonts/font.dat" Id="Rea5f48952b134ef4" /><Relationship Type="http://schemas.openxmlformats.org/officeDocument/2006/relationships/font" Target="/ppt/fonts/font2.dat" Id="Rc3c4a6c9f4a94422" /><Relationship Type="http://schemas.openxmlformats.org/officeDocument/2006/relationships/font" Target="/ppt/fonts/font3.dat" Id="R401d5b2c01f94e8c" /><Relationship Type="http://schemas.openxmlformats.org/officeDocument/2006/relationships/slide" Target="/ppt/slides/slide1.xml" Id="R289ae1cfe56248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175f4667bb46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897f69a4684355" /><Relationship Type="http://schemas.openxmlformats.org/officeDocument/2006/relationships/notesMaster" Target="/ppt/notesMasters/notesMaster1.xml" Id="R3c634447a45b49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>
[Sources]
- E:\Suspicious_behaviour\20260818232314089_F6B80AMPBVCDD6C_L_0_L0120818232314_1.mp4 — frame khoảng 185 giây, người vẫn đứng yên sau ngưỡng 180 giây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36adf54ef49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6f98e4bab43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2a2f8a46149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827a330954a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c9788f13a46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dc883bb134c5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5c25973f24ad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d5eff80e540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7ad9cd732490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0e29d5bb04e8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26b76ab3149c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4F3293-B896-4764-B13B-6E25377A04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AECFBC7-70AB-43D1-A4E7-7AD87F2CA0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E31966-E337-437D-908B-B8C1FBC60A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20F033-C011-4D9E-BEE9-F0AA38735F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900A79-9B35-4247-91ED-6A12800686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92CBD-5E69-4238-8D26-6AAA36E415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7ECFFB-F4DD-4444-85DF-E59F939E22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E2D4D5-0A0E-4C66-86FB-940CB097CC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576500-8DC9-44F7-AFC4-FA14FCF93E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BEE29E-2410-4C13-AA31-44F741F392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59D014-93BB-4591-8CCD-F32588F5CB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0523E39-8181-4523-AE8B-F9F799D16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BF6694-DCA3-408F-9C88-380BC00932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271DFB-2160-4826-BB0D-EAFEA987D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C73F08-FA22-4C41-9782-C4AE8EB734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59F05A-C387-43A1-A4DE-9A10476175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26F631-F5AF-49E7-B17F-6BF892C889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2A6B2FC-B9D9-4902-8676-1D94C9B45D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4B1F38-8E3D-42AC-A053-D7F5FFDAD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9CC032A-2D27-4947-A538-2B476546DC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FBE2AB5-BE2B-47C7-A2DC-1B43BA67BA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B76572-C629-41CC-AB25-8A1863B12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0C59BF-66B2-42E2-8DAF-CC25B0F55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F6BC553-46C7-4C33-9EB8-8767FD583F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8162D26-C6E8-497C-8809-024C1739E12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319C70F-500C-48DA-8B82-0A002D45EB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6BCF4F1-8D82-4C5D-8A2C-9CAC84D22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D265820-9078-4067-8BFD-CC15E1F01A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C484E4E-2467-4CB0-8DF7-B1A14A4A6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4660FC-F7FC-4F0E-94B7-C4DF9F3BF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77BF274-370A-4B69-A436-512602C3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A67C06D-2D77-4ABD-9CDD-9663E537E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C85852-F605-4FBE-9993-9F34BDA86A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B572352-1C1B-463F-A078-0ED8D759A3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081D4A8-9206-4138-A99F-77B7DBAC6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9B1990-6D18-413A-B752-0E4B158C20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D10FCE-9FC2-49FD-AB30-657135C1C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B6AB1C-DBC7-47BF-B5BF-63ABD1DEEE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108122F-8A46-45DB-A4B0-98A11660F9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DD0250-18D1-43D8-8AD3-1A43F3A6A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9A5D2C7-C6E6-44BE-91B5-81FC99DA6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D895A3-20CC-4BDD-B9AF-834F998993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C0EDF4-A231-445E-B52A-2308C17B0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2520BE-F827-4812-B814-3A23DB1DBB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348B39-732D-4EFB-BCD3-1146A8BF5D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7EFB4E4-5FCA-4261-B209-477ADF6634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7839518-E19D-4F65-B9EC-75FAA77C9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64309A-3DF6-4D5B-AD26-7FB9B894E5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947F81-ADFB-4F20-8609-651EA9E7B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D1F5F9-5E80-4059-8E72-C2FAC6DE2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04FF7F-6CCE-4CFA-98A0-1BF7CDF671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9173D-3E6F-48D6-AAD2-610BAC6941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2EA088-4EC4-4348-BADB-2365D76D01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B07CD06-4559-4A7B-B1F7-CA3DB3A48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CDE729-530C-40EA-ABCC-AA7BDA1ECF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C5594E-3DAC-45A4-B34B-D9FF2701F7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36497D-F742-4E15-9D40-0589EE13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866361-77C8-46EF-9536-BA41A0C20A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5fc0799a6b4aa4" /><Relationship Type="http://schemas.openxmlformats.org/officeDocument/2006/relationships/slideLayout" Target="/ppt/slideLayouts/slideLayout1.xml" Id="R618daa3a9cbb47f4" /><Relationship Type="http://schemas.openxmlformats.org/officeDocument/2006/relationships/slideLayout" Target="/ppt/slideLayouts/slideLayout2.xml" Id="R2bca03885cbc4bfd" /><Relationship Type="http://schemas.openxmlformats.org/officeDocument/2006/relationships/slideLayout" Target="/ppt/slideLayouts/slideLayout3.xml" Id="R1f4fb9768315416f" /><Relationship Type="http://schemas.openxmlformats.org/officeDocument/2006/relationships/slideLayout" Target="/ppt/slideLayouts/slideLayout4.xml" Id="R02dec1409fd349be" /><Relationship Type="http://schemas.openxmlformats.org/officeDocument/2006/relationships/slideLayout" Target="/ppt/slideLayouts/slideLayout5.xml" Id="R9cd2f731a7af4975" /><Relationship Type="http://schemas.openxmlformats.org/officeDocument/2006/relationships/slideLayout" Target="/ppt/slideLayouts/slideLayout6.xml" Id="Ra69db497340b4751" /><Relationship Type="http://schemas.openxmlformats.org/officeDocument/2006/relationships/slideLayout" Target="/ppt/slideLayouts/slideLayout7.xml" Id="R3bbd3c6368df469a" /><Relationship Type="http://schemas.openxmlformats.org/officeDocument/2006/relationships/slideLayout" Target="/ppt/slideLayouts/slideLayout8.xml" Id="R83101d0fbfcb4cfd" /><Relationship Type="http://schemas.openxmlformats.org/officeDocument/2006/relationships/slideLayout" Target="/ppt/slideLayouts/slideLayout9.xml" Id="R5e1513637c4d4ec5" /><Relationship Type="http://schemas.openxmlformats.org/officeDocument/2006/relationships/slideLayout" Target="/ppt/slideLayouts/slideLayout10.xml" Id="R67e01be16c344576" /><Relationship Type="http://schemas.openxmlformats.org/officeDocument/2006/relationships/slideLayout" Target="/ppt/slideLayouts/slideLayout11.xml" Id="R4101b8f0d297426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B753F3E-F204-423A-8250-5E31D4393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46A0A0-1058-4762-9AB0-BAEE2F515E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919272-20C0-4525-948A-9D592BBD26B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4997CC-EE5A-47A5-93AF-3C1A8F46BF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8DC2ED-A706-47F9-9B73-C335E028B9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8daa3a9cbb47f4"/>
    <p:sldLayoutId xmlns:r="http://schemas.openxmlformats.org/officeDocument/2006/relationships" id="2147483650" r:id="R2bca03885cbc4bfd"/>
    <p:sldLayoutId xmlns:r="http://schemas.openxmlformats.org/officeDocument/2006/relationships" id="2147483651" r:id="R1f4fb9768315416f"/>
    <p:sldLayoutId xmlns:r="http://schemas.openxmlformats.org/officeDocument/2006/relationships" id="2147483652" r:id="R02dec1409fd349be"/>
    <p:sldLayoutId xmlns:r="http://schemas.openxmlformats.org/officeDocument/2006/relationships" id="2147483653" r:id="R9cd2f731a7af4975"/>
    <p:sldLayoutId xmlns:r="http://schemas.openxmlformats.org/officeDocument/2006/relationships" id="2147483654" r:id="Ra69db497340b4751"/>
    <p:sldLayoutId xmlns:r="http://schemas.openxmlformats.org/officeDocument/2006/relationships" id="2147483655" r:id="R3bbd3c6368df469a"/>
    <p:sldLayoutId xmlns:r="http://schemas.openxmlformats.org/officeDocument/2006/relationships" id="2147483656" r:id="R83101d0fbfcb4cfd"/>
    <p:sldLayoutId xmlns:r="http://schemas.openxmlformats.org/officeDocument/2006/relationships" id="2147483657" r:id="R5e1513637c4d4ec5"/>
    <p:sldLayoutId xmlns:r="http://schemas.openxmlformats.org/officeDocument/2006/relationships" id="2147483658" r:id="R67e01be16c344576"/>
    <p:sldLayoutId xmlns:r="http://schemas.openxmlformats.org/officeDocument/2006/relationships" id="2147483659" r:id="R4101b8f0d2974269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16b969ad324c6c" /><Relationship Type="http://schemas.openxmlformats.org/officeDocument/2006/relationships/image" Target="/ppt/media/image.jpeg" Id="Rd23c89cd346d41ae" /><Relationship Type="http://schemas.openxmlformats.org/officeDocument/2006/relationships/image" Target="/ppt/media/image.png" Id="Rf3e2a424aa804f80" /><Relationship Type="http://schemas.openxmlformats.org/officeDocument/2006/relationships/image" Target="/ppt/media/image2.png" Id="R39a27bae2eb34d3d" /><Relationship Type="http://schemas.openxmlformats.org/officeDocument/2006/relationships/image" Target="/ppt/media/image3.png" Id="Rb5cbec2bb21c4582" /><Relationship Type="http://schemas.openxmlformats.org/officeDocument/2006/relationships/notesSlide" Target="/ppt/notesSlides/notesSlide1.xml" Id="R87d45ef0c50444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9C86AF9-F20A-4A34-BA9B-C8211DAA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">
            <a:off x="-9535" y="9761030"/>
            <a:ext cx="1830660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459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08BC119-15FE-4FFA-811A-F19B0F97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05740" y="9985248"/>
            <a:ext cx="1440180" cy="301752"/>
          </a:xfrm>
          <a:custGeom xmlns:a="http://schemas.openxmlformats.org/drawingml/2006/main">
            <a:rect l="l" t="t" r="r" b="b"/>
            <a:pathLst>
              <a:path w="1920240" h="402336">
                <a:moveTo>
                  <a:pt x="1920240" y="402336"/>
                </a:moveTo>
                <a:lnTo>
                  <a:pt x="1819656" y="0"/>
                </a:lnTo>
                <a:lnTo>
                  <a:pt x="0" y="0"/>
                </a:lnTo>
                <a:lnTo>
                  <a:pt x="100584" y="402336"/>
                </a:lnTo>
                <a:close/>
              </a:path>
            </a:pathLst>
          </a:custGeom>
          <a:solidFill xmlns:a="http://schemas.openxmlformats.org/drawingml/2006/main">
            <a:srgbClr val="17459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E19C0D6-75FA-4DA3-8B14-8EDD1779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0380" y="9985248"/>
            <a:ext cx="4018788" cy="301752"/>
          </a:xfrm>
          <a:custGeom xmlns:a="http://schemas.openxmlformats.org/drawingml/2006/main">
            <a:rect l="l" t="t" r="r" b="b"/>
            <a:pathLst>
              <a:path w="5358384" h="402336">
                <a:moveTo>
                  <a:pt x="0" y="402336"/>
                </a:moveTo>
                <a:lnTo>
                  <a:pt x="100584" y="0"/>
                </a:lnTo>
                <a:lnTo>
                  <a:pt x="5358384" y="0"/>
                </a:lnTo>
                <a:lnTo>
                  <a:pt x="5257800" y="402336"/>
                </a:lnTo>
                <a:close/>
              </a:path>
            </a:pathLst>
          </a:custGeom>
          <a:solidFill xmlns:a="http://schemas.openxmlformats.org/drawingml/2006/main">
            <a:srgbClr val="EE68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BAFCF48-2515-4992-AD05-3A71835B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81860" y="9971532"/>
            <a:ext cx="3429000" cy="329184"/>
          </a:xfrm>
          <a:custGeom xmlns:a="http://schemas.openxmlformats.org/drawingml/2006/main">
            <a:rect l="l" t="t" r="r" b="b"/>
            <a:pathLst>
              <a:path w="4572000" h="438912">
                <a:moveTo>
                  <a:pt x="0" y="0"/>
                </a:moveTo>
                <a:lnTo>
                  <a:pt x="4572000" y="0"/>
                </a:lnTo>
                <a:lnTo>
                  <a:pt x="4572000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152969" r="0" b="-152969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558FF8A-2439-4DE5-B800-85ACE3C3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81860" y="9957245"/>
            <a:ext cx="3429000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www.huflit.edu.vn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BC52A98-86E0-4444-A852-2450991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9491472"/>
            <a:ext cx="10287000" cy="301752"/>
          </a:xfrm>
          <a:custGeom xmlns:a="http://schemas.openxmlformats.org/drawingml/2006/main">
            <a:rect l="l" t="t" r="r" b="b"/>
            <a:pathLst>
              <a:path w="13716000" h="402336">
                <a:moveTo>
                  <a:pt x="0" y="0"/>
                </a:moveTo>
                <a:lnTo>
                  <a:pt x="13716000" y="0"/>
                </a:lnTo>
                <a:lnTo>
                  <a:pt x="1371600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614262" r="0" b="-614262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3C868B-5D6B-4DD8-A140-D40AEA09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9477185"/>
            <a:ext cx="10287000" cy="316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>
                <a:solidFill>
                  <a:srgbClr val="595959"/>
                </a:solidFill>
                <a:latin typeface="Arial"/>
                <a:ea typeface="Arial"/>
                <a:cs typeface="Arial"/>
              </a:rPr>
              <a:t>Chương 4 · Kiểm thử nghiệp vụ chi tiết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464C150-FF46-4146-97FF-8D6B4FF9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0" y="9491472"/>
            <a:ext cx="1097280" cy="301752"/>
          </a:xfrm>
          <a:custGeom xmlns:a="http://schemas.openxmlformats.org/drawingml/2006/main">
            <a:rect l="l" t="t" r="r" b="b"/>
            <a:pathLst>
              <a:path w="1463040" h="402336">
                <a:moveTo>
                  <a:pt x="0" y="0"/>
                </a:moveTo>
                <a:lnTo>
                  <a:pt x="1463040" y="0"/>
                </a:lnTo>
                <a:lnTo>
                  <a:pt x="146304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20854" r="0" b="-20854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174F17E-CA73-4DE8-954C-63DE13E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0" y="9477185"/>
            <a:ext cx="1097280" cy="316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620"/>
              </a:lnSpc>
              <a:buNone/>
            </a:pPr>
            <a:r>
              <a:rPr sz="1350">
                <a:solidFill>
                  <a:srgbClr val="59595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A9C585D-7837-47AE-9ACF-33AB087E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576072"/>
            <a:ext cx="16733520" cy="411480"/>
          </a:xfrm>
          <a:custGeom xmlns:a="http://schemas.openxmlformats.org/drawingml/2006/main">
            <a:rect l="l" t="t" r="r" b="b"/>
            <a:pathLst>
              <a:path w="22311361" h="548640">
                <a:moveTo>
                  <a:pt x="0" y="0"/>
                </a:moveTo>
                <a:lnTo>
                  <a:pt x="22311361" y="0"/>
                </a:lnTo>
                <a:lnTo>
                  <a:pt x="22311361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742391" r="0" b="-742391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79C6DEF-26DD-46BC-8746-DFEDFDA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561785"/>
            <a:ext cx="16733520" cy="425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 spc="225">
                <a:solidFill>
                  <a:srgbClr val="EE6821"/>
                </a:solidFill>
                <a:latin typeface="Arial Bold"/>
                <a:ea typeface="Arial Bold"/>
                <a:cs typeface="Arial Bold"/>
              </a:rPr>
              <a:t>CHƯƠNG 4 · KIỂM THỬ NGHIỆP VỤ CHI TIẾT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1D4CF33-5C01-4A84-8252-0F6F47E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87552"/>
            <a:ext cx="16733520" cy="850392"/>
          </a:xfrm>
          <a:custGeom xmlns:a="http://schemas.openxmlformats.org/drawingml/2006/main">
            <a:rect l="l" t="t" r="r" b="b"/>
            <a:pathLst>
              <a:path w="22311361" h="1133856">
                <a:moveTo>
                  <a:pt x="0" y="0"/>
                </a:moveTo>
                <a:lnTo>
                  <a:pt x="22311361" y="0"/>
                </a:lnTo>
                <a:lnTo>
                  <a:pt x="22311361" y="1133856"/>
                </a:lnTo>
                <a:lnTo>
                  <a:pt x="0" y="113385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333415" r="0" b="-333415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DC0FFED-C70B-460F-A61D-6F03A867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6121"/>
            <a:ext cx="16733520" cy="871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17459E"/>
                </a:solidFill>
                <a:latin typeface="Arial Bold"/>
                <a:ea typeface="Arial Bold"/>
                <a:cs typeface="Arial Bold"/>
              </a:rPr>
              <a:t>Minh họa kịch bản kiểm thử (2/2)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718EC40-FFBA-45DE-8304-89A89622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00">
            <a:off x="742464" y="1942909"/>
            <a:ext cx="1607155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459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CBF34AA-E690-4436-92A8-818E595E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64940" y="1837944"/>
            <a:ext cx="864108" cy="219456"/>
          </a:xfrm>
          <a:custGeom xmlns:a="http://schemas.openxmlformats.org/drawingml/2006/main">
            <a:rect l="l" t="t" r="r" b="b"/>
            <a:pathLst>
              <a:path w="1152144" h="292608">
                <a:moveTo>
                  <a:pt x="0" y="292608"/>
                </a:moveTo>
                <a:lnTo>
                  <a:pt x="73152" y="0"/>
                </a:lnTo>
                <a:lnTo>
                  <a:pt x="1152144" y="0"/>
                </a:lnTo>
                <a:lnTo>
                  <a:pt x="1078992" y="292608"/>
                </a:lnTo>
                <a:close/>
              </a:path>
            </a:pathLst>
          </a:custGeom>
          <a:solidFill xmlns:a="http://schemas.openxmlformats.org/drawingml/2006/main">
            <a:srgbClr val="EE68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97D3789-7AAA-4991-B898-B171E1BE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915" y="2527935"/>
            <a:ext cx="5071110" cy="3653790"/>
          </a:xfrm>
          <a:custGeom xmlns:a="http://schemas.openxmlformats.org/drawingml/2006/main">
            <a:rect l="l" t="t" r="r" b="b"/>
            <a:pathLst>
              <a:path w="6761480" h="4871720">
                <a:moveTo>
                  <a:pt x="0" y="110236"/>
                </a:moveTo>
                <a:cubicBezTo>
                  <a:pt x="0" y="49403"/>
                  <a:pt x="49403" y="0"/>
                  <a:pt x="110236" y="0"/>
                </a:cubicBezTo>
                <a:lnTo>
                  <a:pt x="6651244" y="0"/>
                </a:lnTo>
                <a:cubicBezTo>
                  <a:pt x="6712203" y="0"/>
                  <a:pt x="6761480" y="49403"/>
                  <a:pt x="6761480" y="110236"/>
                </a:cubicBezTo>
                <a:lnTo>
                  <a:pt x="6761480" y="4761484"/>
                </a:lnTo>
                <a:cubicBezTo>
                  <a:pt x="6761480" y="4822444"/>
                  <a:pt x="6712076" y="4871720"/>
                  <a:pt x="6651244" y="4871720"/>
                </a:cubicBezTo>
                <a:lnTo>
                  <a:pt x="110236" y="4871720"/>
                </a:lnTo>
                <a:cubicBezTo>
                  <a:pt x="49276" y="4871720"/>
                  <a:pt x="0" y="4822317"/>
                  <a:pt x="0" y="4761484"/>
                </a:cubicBezTo>
                <a:close/>
              </a:path>
            </a:pathLst>
          </a:custGeom>
          <a:solidFill xmlns:a="http://schemas.openxmlformats.org/drawingml/2006/main">
            <a:srgbClr val="F4F5F7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3350EEA-47E3-474D-ACAD-D418FED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1600" y="2674620"/>
            <a:ext cx="4777740" cy="3360420"/>
          </a:xfrm>
          <a:custGeom xmlns:a="http://schemas.openxmlformats.org/drawingml/2006/main">
            <a:rect l="l" t="t" r="r" b="b"/>
            <a:pathLst>
              <a:path w="6370320" h="4480560">
                <a:moveTo>
                  <a:pt x="0" y="0"/>
                </a:moveTo>
                <a:lnTo>
                  <a:pt x="6370320" y="0"/>
                </a:lnTo>
                <a:lnTo>
                  <a:pt x="6370320" y="4480560"/>
                </a:lnTo>
                <a:lnTo>
                  <a:pt x="0" y="44805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e2a424aa804f80"/>
            <a:stretch>
              <a:fillRect l="-4741" t="0" r="-4741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3D52237-BF4B-4C94-9ABF-DB19F80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2125980"/>
            <a:ext cx="1303020" cy="356616"/>
          </a:xfrm>
          <a:custGeom xmlns:a="http://schemas.openxmlformats.org/drawingml/2006/main">
            <a:rect l="l" t="t" r="r" b="b"/>
            <a:pathLst>
              <a:path w="1737360" h="475488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627632" y="0"/>
                </a:lnTo>
                <a:cubicBezTo>
                  <a:pt x="1688211" y="0"/>
                  <a:pt x="1737360" y="49149"/>
                  <a:pt x="1737360" y="109728"/>
                </a:cubicBezTo>
                <a:lnTo>
                  <a:pt x="1737360" y="365760"/>
                </a:lnTo>
                <a:cubicBezTo>
                  <a:pt x="1737360" y="426339"/>
                  <a:pt x="1688211" y="475488"/>
                  <a:pt x="1627632" y="475488"/>
                </a:cubicBezTo>
                <a:lnTo>
                  <a:pt x="109728" y="475488"/>
                </a:lnTo>
                <a:cubicBezTo>
                  <a:pt x="49149" y="475488"/>
                  <a:pt x="0" y="426339"/>
                  <a:pt x="0" y="365760"/>
                </a:cubicBezTo>
                <a:close/>
              </a:path>
            </a:pathLst>
          </a:custGeom>
          <a:solidFill xmlns:a="http://schemas.openxmlformats.org/drawingml/2006/main">
            <a:srgbClr val="17459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5F03F5D-63C3-421D-9BCE-90DB882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2125980"/>
            <a:ext cx="1303020" cy="356616"/>
          </a:xfrm>
          <a:custGeom xmlns:a="http://schemas.openxmlformats.org/drawingml/2006/main">
            <a:rect l="l" t="t" r="r" b="b"/>
            <a:pathLst>
              <a:path w="1737360" h="475488">
                <a:moveTo>
                  <a:pt x="0" y="0"/>
                </a:moveTo>
                <a:lnTo>
                  <a:pt x="1737360" y="0"/>
                </a:lnTo>
                <a:lnTo>
                  <a:pt x="1737360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21195" r="0" b="-21195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B7C4F2-9F94-49ED-B17C-09DDB7B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2111693"/>
            <a:ext cx="1303020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530"/>
              </a:lnSpc>
              <a:buNone/>
            </a:pPr>
            <a:r>
              <a:rPr sz="12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PASSED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4215A557-5F5E-4712-B129-732351B1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6309360"/>
            <a:ext cx="5052060" cy="411480"/>
          </a:xfrm>
          <a:custGeom xmlns:a="http://schemas.openxmlformats.org/drawingml/2006/main">
            <a:rect l="l" t="t" r="r" b="b"/>
            <a:pathLst>
              <a:path w="6736080" h="548640">
                <a:moveTo>
                  <a:pt x="0" y="0"/>
                </a:moveTo>
                <a:lnTo>
                  <a:pt x="6736080" y="0"/>
                </a:lnTo>
                <a:lnTo>
                  <a:pt x="67360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189232" r="0" b="-189232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080AE51B-2FC5-4786-8820-98CE4EE9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6302217"/>
            <a:ext cx="505206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59"/>
              </a:lnSpc>
              <a:buNone/>
            </a:pPr>
            <a:r>
              <a:rPr sz="1549" b="1">
                <a:solidFill>
                  <a:srgbClr val="595959"/>
                </a:solidFill>
                <a:latin typeface="Arial Bold"/>
                <a:ea typeface="Arial Bold"/>
                <a:cs typeface="Arial Bold"/>
              </a:rPr>
              <a:t>TC-05 · TC-E2E-05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EDE5DD9-FA06-4349-8D07-84B6C916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9875" y="2527935"/>
            <a:ext cx="5071110" cy="3653790"/>
          </a:xfrm>
          <a:custGeom xmlns:a="http://schemas.openxmlformats.org/drawingml/2006/main">
            <a:rect l="l" t="t" r="r" b="b"/>
            <a:pathLst>
              <a:path w="6761480" h="4871720">
                <a:moveTo>
                  <a:pt x="0" y="110236"/>
                </a:moveTo>
                <a:cubicBezTo>
                  <a:pt x="0" y="49403"/>
                  <a:pt x="49403" y="0"/>
                  <a:pt x="110236" y="0"/>
                </a:cubicBezTo>
                <a:lnTo>
                  <a:pt x="6651244" y="0"/>
                </a:lnTo>
                <a:cubicBezTo>
                  <a:pt x="6712203" y="0"/>
                  <a:pt x="6761480" y="49403"/>
                  <a:pt x="6761480" y="110236"/>
                </a:cubicBezTo>
                <a:lnTo>
                  <a:pt x="6761480" y="4761484"/>
                </a:lnTo>
                <a:cubicBezTo>
                  <a:pt x="6761480" y="4822444"/>
                  <a:pt x="6712076" y="4871720"/>
                  <a:pt x="6651244" y="4871720"/>
                </a:cubicBezTo>
                <a:lnTo>
                  <a:pt x="110236" y="4871720"/>
                </a:lnTo>
                <a:cubicBezTo>
                  <a:pt x="49276" y="4871720"/>
                  <a:pt x="0" y="4822317"/>
                  <a:pt x="0" y="4761484"/>
                </a:cubicBezTo>
                <a:close/>
              </a:path>
            </a:pathLst>
          </a:custGeom>
          <a:solidFill xmlns:a="http://schemas.openxmlformats.org/drawingml/2006/main">
            <a:srgbClr val="F4F5F7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0B8FBCDD-DB1F-451A-8DD2-8F9EBAB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6560" y="2674620"/>
            <a:ext cx="4777740" cy="3360420"/>
          </a:xfrm>
          <a:custGeom xmlns:a="http://schemas.openxmlformats.org/drawingml/2006/main">
            <a:rect l="l" t="t" r="r" b="b"/>
            <a:pathLst>
              <a:path w="6370320" h="4480560">
                <a:moveTo>
                  <a:pt x="0" y="0"/>
                </a:moveTo>
                <a:lnTo>
                  <a:pt x="6370320" y="0"/>
                </a:lnTo>
                <a:lnTo>
                  <a:pt x="6370320" y="4480560"/>
                </a:lnTo>
                <a:lnTo>
                  <a:pt x="0" y="44805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a27bae2eb34d3d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FFE2EFB8-DC7A-4F5D-AFC8-91FEF4B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9400" y="2125980"/>
            <a:ext cx="1303020" cy="356616"/>
          </a:xfrm>
          <a:custGeom xmlns:a="http://schemas.openxmlformats.org/drawingml/2006/main">
            <a:rect l="l" t="t" r="r" b="b"/>
            <a:pathLst>
              <a:path w="1737360" h="475488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627632" y="0"/>
                </a:lnTo>
                <a:cubicBezTo>
                  <a:pt x="1688211" y="0"/>
                  <a:pt x="1737360" y="49149"/>
                  <a:pt x="1737360" y="109728"/>
                </a:cubicBezTo>
                <a:lnTo>
                  <a:pt x="1737360" y="365760"/>
                </a:lnTo>
                <a:cubicBezTo>
                  <a:pt x="1737360" y="426339"/>
                  <a:pt x="1688211" y="475488"/>
                  <a:pt x="1627632" y="475488"/>
                </a:cubicBezTo>
                <a:lnTo>
                  <a:pt x="109728" y="475488"/>
                </a:lnTo>
                <a:cubicBezTo>
                  <a:pt x="49149" y="475488"/>
                  <a:pt x="0" y="426339"/>
                  <a:pt x="0" y="365760"/>
                </a:cubicBezTo>
                <a:close/>
              </a:path>
            </a:pathLst>
          </a:custGeom>
          <a:solidFill xmlns:a="http://schemas.openxmlformats.org/drawingml/2006/main">
            <a:srgbClr val="17459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B440451-F9B2-4DFE-8E1C-C19DA3F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9400" y="2125980"/>
            <a:ext cx="1303020" cy="356616"/>
          </a:xfrm>
          <a:custGeom xmlns:a="http://schemas.openxmlformats.org/drawingml/2006/main">
            <a:rect l="l" t="t" r="r" b="b"/>
            <a:pathLst>
              <a:path w="1737360" h="475488">
                <a:moveTo>
                  <a:pt x="0" y="0"/>
                </a:moveTo>
                <a:lnTo>
                  <a:pt x="1737360" y="0"/>
                </a:lnTo>
                <a:lnTo>
                  <a:pt x="1737360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21195" r="0" b="-21195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CF9679FB-9BCF-4D2F-BB8C-C9C7AC8E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9400" y="2111693"/>
            <a:ext cx="1303020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530"/>
              </a:lnSpc>
              <a:buNone/>
            </a:pPr>
            <a:r>
              <a:rPr sz="12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PASSED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480C99D-F525-49D0-A40C-08777DA3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9400" y="6309360"/>
            <a:ext cx="5052060" cy="411480"/>
          </a:xfrm>
          <a:custGeom xmlns:a="http://schemas.openxmlformats.org/drawingml/2006/main">
            <a:rect l="l" t="t" r="r" b="b"/>
            <a:pathLst>
              <a:path w="6736080" h="548640">
                <a:moveTo>
                  <a:pt x="0" y="0"/>
                </a:moveTo>
                <a:lnTo>
                  <a:pt x="6736080" y="0"/>
                </a:lnTo>
                <a:lnTo>
                  <a:pt x="67360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189232" r="0" b="-189232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D3D9E06-2048-46B9-95FE-2688B48F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9400" y="6302217"/>
            <a:ext cx="505206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59"/>
              </a:lnSpc>
              <a:buNone/>
            </a:pPr>
            <a:r>
              <a:rPr sz="1549" b="1">
                <a:solidFill>
                  <a:srgbClr val="595959"/>
                </a:solidFill>
                <a:latin typeface="Arial Bold"/>
                <a:ea typeface="Arial Bold"/>
                <a:cs typeface="Arial Bold"/>
              </a:rPr>
              <a:t>TC-06 · TC-E2E-06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A5C34F24-53F8-4274-BB80-1895026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14835" y="2527935"/>
            <a:ext cx="5071110" cy="3653790"/>
          </a:xfrm>
          <a:custGeom xmlns:a="http://schemas.openxmlformats.org/drawingml/2006/main">
            <a:rect l="l" t="t" r="r" b="b"/>
            <a:pathLst>
              <a:path w="6761480" h="4871720">
                <a:moveTo>
                  <a:pt x="0" y="110236"/>
                </a:moveTo>
                <a:cubicBezTo>
                  <a:pt x="0" y="49403"/>
                  <a:pt x="49403" y="0"/>
                  <a:pt x="110236" y="0"/>
                </a:cubicBezTo>
                <a:lnTo>
                  <a:pt x="6651244" y="0"/>
                </a:lnTo>
                <a:cubicBezTo>
                  <a:pt x="6712203" y="0"/>
                  <a:pt x="6761480" y="49403"/>
                  <a:pt x="6761480" y="110236"/>
                </a:cubicBezTo>
                <a:lnTo>
                  <a:pt x="6761480" y="4761484"/>
                </a:lnTo>
                <a:cubicBezTo>
                  <a:pt x="6761480" y="4822444"/>
                  <a:pt x="6712076" y="4871720"/>
                  <a:pt x="6651244" y="4871720"/>
                </a:cubicBezTo>
                <a:lnTo>
                  <a:pt x="110236" y="4871720"/>
                </a:lnTo>
                <a:cubicBezTo>
                  <a:pt x="49276" y="4871720"/>
                  <a:pt x="0" y="4822317"/>
                  <a:pt x="0" y="4761484"/>
                </a:cubicBezTo>
                <a:close/>
              </a:path>
            </a:pathLst>
          </a:custGeom>
          <a:solidFill xmlns:a="http://schemas.openxmlformats.org/drawingml/2006/main">
            <a:srgbClr val="F4F5F7"/>
          </a:solidFill>
          <a:ln xmlns:a="http://schemas.openxmlformats.org/drawingml/2006/main" w="19050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BBB6ED3-AE1D-4D11-89DE-CC08BD8A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61520" y="2674620"/>
            <a:ext cx="4777740" cy="3360420"/>
          </a:xfrm>
          <a:custGeom xmlns:a="http://schemas.openxmlformats.org/drawingml/2006/main">
            <a:rect l="l" t="t" r="r" b="b"/>
            <a:pathLst>
              <a:path w="6370320" h="4480560">
                <a:moveTo>
                  <a:pt x="0" y="0"/>
                </a:moveTo>
                <a:lnTo>
                  <a:pt x="6370320" y="0"/>
                </a:lnTo>
                <a:lnTo>
                  <a:pt x="6370320" y="4480560"/>
                </a:lnTo>
                <a:lnTo>
                  <a:pt x="0" y="44805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cbec2bb21c4582"/>
            <a:stretch>
              <a:fillRect l="-6925" t="0" r="-6925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293876DC-0A23-448E-8CEA-2995682D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4360" y="2125980"/>
            <a:ext cx="1303020" cy="356616"/>
          </a:xfrm>
          <a:custGeom xmlns:a="http://schemas.openxmlformats.org/drawingml/2006/main">
            <a:rect l="l" t="t" r="r" b="b"/>
            <a:pathLst>
              <a:path w="1737360" h="475488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627632" y="0"/>
                </a:lnTo>
                <a:cubicBezTo>
                  <a:pt x="1688211" y="0"/>
                  <a:pt x="1737360" y="49149"/>
                  <a:pt x="1737360" y="109728"/>
                </a:cubicBezTo>
                <a:lnTo>
                  <a:pt x="1737360" y="365760"/>
                </a:lnTo>
                <a:cubicBezTo>
                  <a:pt x="1737360" y="426339"/>
                  <a:pt x="1688211" y="475488"/>
                  <a:pt x="1627632" y="475488"/>
                </a:cubicBezTo>
                <a:lnTo>
                  <a:pt x="109728" y="475488"/>
                </a:lnTo>
                <a:cubicBezTo>
                  <a:pt x="49149" y="475488"/>
                  <a:pt x="0" y="426339"/>
                  <a:pt x="0" y="365760"/>
                </a:cubicBezTo>
                <a:close/>
              </a:path>
            </a:pathLst>
          </a:custGeom>
          <a:solidFill xmlns:a="http://schemas.openxmlformats.org/drawingml/2006/main">
            <a:srgbClr val="17459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5A12419B-A4BC-40D0-B849-AEA4A606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4360" y="2125980"/>
            <a:ext cx="1303020" cy="356616"/>
          </a:xfrm>
          <a:custGeom xmlns:a="http://schemas.openxmlformats.org/drawingml/2006/main">
            <a:rect l="l" t="t" r="r" b="b"/>
            <a:pathLst>
              <a:path w="1737360" h="475488">
                <a:moveTo>
                  <a:pt x="0" y="0"/>
                </a:moveTo>
                <a:lnTo>
                  <a:pt x="1737360" y="0"/>
                </a:lnTo>
                <a:lnTo>
                  <a:pt x="1737360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21195" r="0" b="-21195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1BF2DBAB-F2A4-4DDF-9BD6-2733FFB3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4360" y="2111693"/>
            <a:ext cx="1303020" cy="370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530"/>
              </a:lnSpc>
              <a:buNone/>
            </a:pPr>
            <a:r>
              <a:rPr sz="12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PASSED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C2F10F90-A2DD-468A-A8CC-A41973B0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4360" y="6309360"/>
            <a:ext cx="5052060" cy="411480"/>
          </a:xfrm>
          <a:custGeom xmlns:a="http://schemas.openxmlformats.org/drawingml/2006/main">
            <a:rect l="l" t="t" r="r" b="b"/>
            <a:pathLst>
              <a:path w="6736080" h="548640">
                <a:moveTo>
                  <a:pt x="0" y="0"/>
                </a:moveTo>
                <a:lnTo>
                  <a:pt x="6736080" y="0"/>
                </a:lnTo>
                <a:lnTo>
                  <a:pt x="67360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3c89cd346d41ae">
              <a:alphaModFix amt="0"/>
            </a:blip>
            <a:stretch>
              <a:fillRect l="0" t="-189232" r="0" b="-189232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358D5D4C-9FF6-4EBC-9103-3B2457F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4360" y="6302217"/>
            <a:ext cx="5052060" cy="418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59"/>
              </a:lnSpc>
              <a:buNone/>
            </a:pPr>
            <a:r>
              <a:rPr sz="1549" b="1">
                <a:solidFill>
                  <a:srgbClr val="595959"/>
                </a:solidFill>
                <a:latin typeface="Arial Bold"/>
                <a:ea typeface="Arial Bold"/>
                <a:cs typeface="Arial Bold"/>
              </a:rPr>
              <a:t>TC-07 · TC-E2E-07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DB962840-F3F3-4468-84B3-7B028F57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6720078"/>
            <a:ext cx="3026212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7459E"/>
                </a:solidFill>
                <a:latin typeface="Arial Bold"/>
                <a:ea typeface="Arial Bold"/>
                <a:cs typeface="Arial Bold"/>
              </a:rPr>
              <a:t>Người lạ xuất hiện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6BE4FC-E51C-4096-BE0F-26EDB78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7230618"/>
            <a:ext cx="4869180" cy="12595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595959"/>
                </a:solidFill>
                <a:latin typeface="Arial"/>
                <a:ea typeface="Arial"/>
                <a:cs typeface="Arial"/>
              </a:rPr>
              <a:t>Cosine similarity dưới ngưỡng nhận diện → gắn nhãn Stranger tự động.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712579A0-1594-4349-902D-2042A2F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" y="8623554"/>
            <a:ext cx="497014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EE6821"/>
                </a:solidFill>
                <a:latin typeface="Arial Bold"/>
                <a:ea typeface="Arial Bold"/>
                <a:cs typeface="Arial Bold"/>
              </a:rPr>
              <a:t>PASSED - STRANGER DETECTED được gắn nhãn.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B13385C1-4CB5-4B83-93A1-0D2BC066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6720078"/>
            <a:ext cx="475607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7459E"/>
                </a:solidFill>
                <a:latin typeface="Arial Bold"/>
                <a:ea typeface="Arial Bold"/>
                <a:cs typeface="Arial Bold"/>
              </a:rPr>
              <a:t>Người lạ đứng yên đáng ngờ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157FC561-550C-474B-BDC4-A9FA1F3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7230618"/>
            <a:ext cx="4869180" cy="12595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595959"/>
                </a:solidFill>
                <a:latin typeface="Arial"/>
                <a:ea typeface="Arial"/>
                <a:cs typeface="Arial"/>
              </a:rPr>
              <a:t>Người lạ đứng yên liên tục 180s (ngưỡng 180s) → nâng mức cảnh báo.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8B90450B-1F20-48B8-A36F-D5D6D5A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690" y="8623554"/>
            <a:ext cx="496062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EE6821"/>
                </a:solidFill>
                <a:latin typeface="Arial Bold"/>
                <a:ea typeface="Arial Bold"/>
                <a:cs typeface="Arial Bold"/>
              </a:rPr>
              <a:t>PASSED - SUSPICIOUS STRANGER được phát hiện.</a:t>
            </a:r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F24641E8-2B6D-45FF-BBA0-973B9DBB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720078"/>
            <a:ext cx="5121593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7459E"/>
                </a:solidFill>
                <a:latin typeface="Arial Bold"/>
                <a:ea typeface="Arial Bold"/>
                <a:cs typeface="Arial Bold"/>
              </a:rPr>
              <a:t>Cắt vạch hướng vào (Intrusion)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A32CB596-5116-4600-AC1F-A91BCA2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230618"/>
            <a:ext cx="4869180" cy="12595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595959"/>
                </a:solidFill>
                <a:latin typeface="Arial"/>
                <a:ea typeface="Arial"/>
                <a:cs typeface="Arial"/>
              </a:rPr>
              <a:t>Tích có hướng giữa vector di chuyển và vector vạch xác định hướng IN/OUT.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A777E44F-7E8F-463B-B44D-C1E349B5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8623554"/>
            <a:ext cx="496062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EE6821"/>
                </a:solidFill>
                <a:latin typeface="Arial Bold"/>
                <a:ea typeface="Arial Bold"/>
                <a:cs typeface="Arial Bold"/>
              </a:rPr>
              <a:t>PASSED - INTRUSION, đếm IN=2 / OUT=1.</a:t>
            </a:r>
          </a:p>
        </p:txBody>
      </p:sp>
    </p:spTree>
    <p:extLst>
      <p:ext uri="{BB962C8B-B14F-4D97-AF65-F5344CB8AC3E}">
        <p14:creationId xmlns:p14="http://schemas.microsoft.com/office/powerpoint/2010/main" val="19954575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2026-08-25T17:23:36.3640000Z</dcterms:created>
  <dcterms:modified xsi:type="dcterms:W3CDTF">2026-08-25T17:23:36.3640000Z</dcterms:modified>
</coreProperties>
</file>