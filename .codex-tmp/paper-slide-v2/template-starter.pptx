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fa14778ae34b54" /><Relationship Type="http://schemas.openxmlformats.org/officeDocument/2006/relationships/extended-properties" Target="/docProps/app.xml" Id="R14d35d61994246b3" /><Relationship Type="http://schemas.openxmlformats.org/officeDocument/2006/relationships/officeDocument" Target="/ppt/presentation.xml" Id="R692ed49353474803" /></Relationships>
</file>

<file path=ppt/presentation.xml><?xml version="1.0" encoding="utf-8"?>
<p:presentation xmlns:p="http://schemas.openxmlformats.org/presentationml/2006/main" embedTrueTypeFonts="1" saveSubsetFonts="1">
  <p:sldMasterIdLst>
    <p:sldMasterId xmlns:r="http://schemas.openxmlformats.org/officeDocument/2006/relationships" id="2147483648" r:id="Rf7af22addefb42ca"/>
  </p:sldMasterIdLst>
  <p:notesMasterIdLst>
    <p:notesMasterId xmlns:r="http://schemas.openxmlformats.org/officeDocument/2006/relationships" r:id="R8b9007eeeb844930"/>
  </p:notesMasterIdLst>
  <p:sldIdLst>
    <p:sldId xmlns:r="http://schemas.openxmlformats.org/officeDocument/2006/relationships" id="256" r:id="R90897f59cb494a29"/>
  </p:sldIdLst>
  <p:sldSz cx="18288000" cy="10287000"/>
  <p:notesSz cx="6858000" cy="9144000"/>
  <p:embeddedFontLst>
    <p:embeddedFont>
      <p:font typeface="Arial Bold"/>
      <p:regular xmlns:r="http://schemas.openxmlformats.org/officeDocument/2006/relationships" r:id="R6b1bce7827174276"/>
      <p:bold xmlns:r="http://schemas.openxmlformats.org/officeDocument/2006/relationships" r:id="R0636a00561214b8e"/>
    </p:embeddedFont>
    <p:embeddedFont>
      <p:font typeface="Arial Italics"/>
      <p:regular xmlns:r="http://schemas.openxmlformats.org/officeDocument/2006/relationships" r:id="R89f9ced51808434d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e73bc935e7242c8" /><Relationship Type="http://schemas.openxmlformats.org/officeDocument/2006/relationships/slideMaster" Target="/ppt/slideMasters/slideMaster1.xml" Id="Rf7af22addefb42ca" /><Relationship Type="http://schemas.openxmlformats.org/officeDocument/2006/relationships/notesMaster" Target="/ppt/notesMasters/notesMaster1.xml" Id="R8b9007eeeb844930" /><Relationship Type="http://schemas.openxmlformats.org/officeDocument/2006/relationships/presProps" Target="/ppt/presProps.xml" Id="R55107f499f914038" /><Relationship Type="http://schemas.openxmlformats.org/officeDocument/2006/relationships/viewProps" Target="/ppt/viewProps.xml" Id="R632ec0b9fa6e4e04" /><Relationship Type="http://schemas.openxmlformats.org/officeDocument/2006/relationships/tableStyles" Target="/ppt/tableStyles.xml" Id="R39d620409d6141b7" /><Relationship Type="http://schemas.openxmlformats.org/officeDocument/2006/relationships/font" Target="/ppt/fonts/font.dat" Id="R6b1bce7827174276" /><Relationship Type="http://schemas.openxmlformats.org/officeDocument/2006/relationships/font" Target="/ppt/fonts/font2.dat" Id="R0636a00561214b8e" /><Relationship Type="http://schemas.openxmlformats.org/officeDocument/2006/relationships/font" Target="/ppt/fonts/font3.dat" Id="R89f9ced51808434d" /><Relationship Type="http://schemas.openxmlformats.org/officeDocument/2006/relationships/slide" Target="/ppt/slides/slide1.xml" Id="R90897f59cb494a2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6ad2882c6b24b3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d4e62430de4def" /><Relationship Type="http://schemas.openxmlformats.org/officeDocument/2006/relationships/notesMaster" Target="/ppt/notesMasters/notesMaster1.xml" Id="R56c8083232514bb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paper header screenshot: C:\Users\Admin\AppData\Local\Temp\codex-clipboard-b72f4f2a-77c1-41c0-ad7f-fe663b503945.png</a:t>
            </a:r>
          </a:p>
          <a:p xmlns:a="http://schemas.openxmlformats.org/drawingml/2006/main">
            <a:r>
              <a:t>- User-provided publication status: accepted at FDSE; accepted for proceedings published by Springer.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fc03d46e8f49f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21a2c9f1ca41f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42219c6e27448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4babace042442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5a9ddfba2844f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e5190d5b7e48b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a35c01c4d143f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0161d1d97c472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0abb883d8c4a5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ab9eb7a9d44a09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9a45def1a4455a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C4F3293-B896-4764-B13B-6E25377A045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2AECFBC7-70AB-43D1-A4E7-7AD87F2CA04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9E31966-E337-437D-908B-B8C1FBC60AA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8/24/2026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420F033-C011-4D9E-BEE9-F0AA38735FD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B900A79-9B35-4247-91ED-6A128006864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AB92CBD-5E69-4238-8D26-6AAA36E415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57ECFFB-F4DD-4444-85DF-E59F939E22A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0E2D4D5-0A0E-4C66-86FB-940CB097CC1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8/24/2026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D576500-8DC9-44F7-AFC4-FA14FCF93E3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DBEE29E-2410-4C13-AA31-44F741F3921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859D014-93BB-4591-8CCD-F32588F5CB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0523E39-8181-4523-AE8B-F9F799D16F6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CBF6694-DCA3-408F-9C88-380BC009322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8/24/2026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1271DFB-2160-4826-BB0D-EAFEA987D5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2C73F08-FA22-4C41-9782-C4AE8EB734A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559F05A-C387-43A1-A4DE-9A10476175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F26F631-F5AF-49E7-B17F-6BF892C8897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02A6B2FC-B9D9-4902-8676-1D94C9B45D2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E4B1F38-8E3D-42AC-A053-D7F5FFDADE5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8/24/2026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9CC032A-2D27-4947-A538-2B476546DC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FBE2AB5-BE2B-47C7-A2DC-1B43BA67BA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3B76572-C629-41CC-AB25-8A1863B12E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40C59BF-66B2-42E2-8DAF-CC25B0F55E0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8F6BC553-46C7-4C33-9EB8-8767FD583FC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48162D26-C6E8-497C-8809-024C1739E12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D319C70F-500C-48DA-8B82-0A002D45EB4C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06BCF4F1-8D82-4C5D-8A2C-9CAC84D2232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8/24/2026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CD265820-9078-4067-8BFD-CC15E1F01A4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FC484E4E-2467-4CB0-8DF7-B1A14A4A6C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14660FC-F7FC-4F0E-94B7-C4DF9F3BF6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A77BF274-370A-4B69-A436-512602C331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8/24/2026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BA67C06D-2D77-4ABD-9CDD-9663E537E3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9DC85852-F605-4FBE-9993-9F34BDA86AA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7B572352-1C1B-463F-A078-0ED8D759A35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8/24/2026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E081D4A8-9206-4138-A99F-77B7DBAC65D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4F9B1990-6D18-413A-B752-0E4B158C201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FD10FCE-9FC2-49FD-AB30-657135C1CA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6B6AB1C-DBC7-47BF-B5BF-63ABD1DEEEF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108122F-8A46-45DB-A4B0-98A11660F9B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2DD0250-18D1-43D8-8AD3-1A43F3A6ABA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8/24/2026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79A5D2C7-C6E6-44BE-91B5-81FC99DA624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8D895A3-20CC-4BDD-B9AF-834F9989930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0C0EDF4-A231-445E-B52A-2308C17B01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DA2520BE-F827-4812-B814-3A23DB1DBB0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D348B39-732D-4EFB-BCD3-1146A8BF5DA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7EFB4E4-5FCA-4261-B209-477ADF6634A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8/24/2026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7839518-E19D-4F65-B9EC-75FAA77C932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364309A-3DF6-4D5B-AD26-7FB9B894E5E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E947F81-ADFB-4F20-8609-651EA9E7B1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CAD1F5F9-5E80-4059-8E72-C2FAC6DE2EF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304FF7F-6CCE-4CFA-98A0-1BF7CDF6716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8/24/2026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9173D-3E6F-48D6-AAD2-610BAC69413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D2EA088-4EC4-4348-BADB-2365D76D01F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BB07CD06-4559-4A7B-B1F7-CA3DB3A482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FCDE729-530C-40EA-ABCC-AA7BDA1ECFA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7C5594E-3DAC-45A4-B34B-D9FF2701F7E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8/24/2026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F36497D-F742-4E15-9D40-0589EE13B92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5866361-77C8-46EF-9536-BA41A0C20AA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3137198582d49f3" /><Relationship Type="http://schemas.openxmlformats.org/officeDocument/2006/relationships/slideLayout" Target="/ppt/slideLayouts/slideLayout1.xml" Id="R2ed15758f63746f3" /><Relationship Type="http://schemas.openxmlformats.org/officeDocument/2006/relationships/slideLayout" Target="/ppt/slideLayouts/slideLayout2.xml" Id="R8b8d65cf579c4b29" /><Relationship Type="http://schemas.openxmlformats.org/officeDocument/2006/relationships/slideLayout" Target="/ppt/slideLayouts/slideLayout3.xml" Id="Rfe9612b0a72b4908" /><Relationship Type="http://schemas.openxmlformats.org/officeDocument/2006/relationships/slideLayout" Target="/ppt/slideLayouts/slideLayout4.xml" Id="R7df3618f8e684daa" /><Relationship Type="http://schemas.openxmlformats.org/officeDocument/2006/relationships/slideLayout" Target="/ppt/slideLayouts/slideLayout5.xml" Id="Rcbf940226412483c" /><Relationship Type="http://schemas.openxmlformats.org/officeDocument/2006/relationships/slideLayout" Target="/ppt/slideLayouts/slideLayout6.xml" Id="R68e7387ab1084e6c" /><Relationship Type="http://schemas.openxmlformats.org/officeDocument/2006/relationships/slideLayout" Target="/ppt/slideLayouts/slideLayout7.xml" Id="Ra4e0c8bba69f4917" /><Relationship Type="http://schemas.openxmlformats.org/officeDocument/2006/relationships/slideLayout" Target="/ppt/slideLayouts/slideLayout8.xml" Id="R06b28a224a2a435d" /><Relationship Type="http://schemas.openxmlformats.org/officeDocument/2006/relationships/slideLayout" Target="/ppt/slideLayouts/slideLayout9.xml" Id="R8aa553183edd43e4" /><Relationship Type="http://schemas.openxmlformats.org/officeDocument/2006/relationships/slideLayout" Target="/ppt/slideLayouts/slideLayout10.xml" Id="R2ae4fc7879c44ad0" /><Relationship Type="http://schemas.openxmlformats.org/officeDocument/2006/relationships/slideLayout" Target="/ppt/slideLayouts/slideLayout11.xml" Id="Rd6684fbd448342e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FB753F3E-F204-423A-8250-5E31D43937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846A0A0-1058-4762-9AB0-BAEE2F515E2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E919272-20C0-4525-948A-9D592BBD26B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8/24/2026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34997CC-EE5A-47A5-93AF-3C1A8F46BF8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E8DC2ED-A706-47F9-9B73-C335E028B95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ed15758f63746f3"/>
    <p:sldLayoutId xmlns:r="http://schemas.openxmlformats.org/officeDocument/2006/relationships" id="2147483650" r:id="R8b8d65cf579c4b29"/>
    <p:sldLayoutId xmlns:r="http://schemas.openxmlformats.org/officeDocument/2006/relationships" id="2147483651" r:id="Rfe9612b0a72b4908"/>
    <p:sldLayoutId xmlns:r="http://schemas.openxmlformats.org/officeDocument/2006/relationships" id="2147483652" r:id="R7df3618f8e684daa"/>
    <p:sldLayoutId xmlns:r="http://schemas.openxmlformats.org/officeDocument/2006/relationships" id="2147483653" r:id="Rcbf940226412483c"/>
    <p:sldLayoutId xmlns:r="http://schemas.openxmlformats.org/officeDocument/2006/relationships" id="2147483654" r:id="R68e7387ab1084e6c"/>
    <p:sldLayoutId xmlns:r="http://schemas.openxmlformats.org/officeDocument/2006/relationships" id="2147483655" r:id="Ra4e0c8bba69f4917"/>
    <p:sldLayoutId xmlns:r="http://schemas.openxmlformats.org/officeDocument/2006/relationships" id="2147483656" r:id="R06b28a224a2a435d"/>
    <p:sldLayoutId xmlns:r="http://schemas.openxmlformats.org/officeDocument/2006/relationships" id="2147483657" r:id="R8aa553183edd43e4"/>
    <p:sldLayoutId xmlns:r="http://schemas.openxmlformats.org/officeDocument/2006/relationships" id="2147483658" r:id="R2ae4fc7879c44ad0"/>
    <p:sldLayoutId xmlns:r="http://schemas.openxmlformats.org/officeDocument/2006/relationships" id="2147483659" r:id="Rd6684fbd448342e8"/>
  </p:sldLayoutIdLst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0cb95cd56ae449e" /><Relationship Type="http://schemas.openxmlformats.org/officeDocument/2006/relationships/image" Target="/ppt/media/image.jpeg" Id="R0ec317a78114490f" /><Relationship Type="http://schemas.openxmlformats.org/officeDocument/2006/relationships/image" Target="/ppt/media/image.png" Id="Rbaefa116f3de4f5e" /><Relationship Type="http://schemas.openxmlformats.org/officeDocument/2006/relationships/notesSlide" Target="/ppt/notesSlides/notesSlide1.xml" Id="R2eb694d27fa6469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29C86AF9-F20A-4A34-BA9B-C8211DAA1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600">
            <a:off x="-9535" y="9761030"/>
            <a:ext cx="18306602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17459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808BC119-15FE-4FFA-811A-F19B0F973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05740" y="9985248"/>
            <a:ext cx="1440180" cy="301752"/>
          </a:xfrm>
          <a:custGeom xmlns:a="http://schemas.openxmlformats.org/drawingml/2006/main">
            <a:rect l="l" t="t" r="r" b="b"/>
            <a:pathLst>
              <a:path w="1920240" h="402336">
                <a:moveTo>
                  <a:pt x="1920240" y="402336"/>
                </a:moveTo>
                <a:lnTo>
                  <a:pt x="1819656" y="0"/>
                </a:lnTo>
                <a:lnTo>
                  <a:pt x="0" y="0"/>
                </a:lnTo>
                <a:lnTo>
                  <a:pt x="100584" y="402336"/>
                </a:lnTo>
                <a:close/>
              </a:path>
            </a:pathLst>
          </a:custGeom>
          <a:solidFill xmlns:a="http://schemas.openxmlformats.org/drawingml/2006/main">
            <a:srgbClr val="17459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3E19C0D6-75FA-4DA3-8B14-8EDD17795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470380" y="9985248"/>
            <a:ext cx="4018788" cy="301752"/>
          </a:xfrm>
          <a:custGeom xmlns:a="http://schemas.openxmlformats.org/drawingml/2006/main">
            <a:rect l="l" t="t" r="r" b="b"/>
            <a:pathLst>
              <a:path w="5358384" h="402336">
                <a:moveTo>
                  <a:pt x="0" y="402336"/>
                </a:moveTo>
                <a:lnTo>
                  <a:pt x="100584" y="0"/>
                </a:lnTo>
                <a:lnTo>
                  <a:pt x="5358384" y="0"/>
                </a:lnTo>
                <a:lnTo>
                  <a:pt x="5257800" y="402336"/>
                </a:lnTo>
                <a:close/>
              </a:path>
            </a:pathLst>
          </a:custGeom>
          <a:solidFill xmlns:a="http://schemas.openxmlformats.org/drawingml/2006/main">
            <a:srgbClr val="EE682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8BAFCF48-2515-4992-AD05-3A71835B4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881860" y="9971532"/>
            <a:ext cx="3429000" cy="329184"/>
          </a:xfrm>
          <a:custGeom xmlns:a="http://schemas.openxmlformats.org/drawingml/2006/main">
            <a:rect l="l" t="t" r="r" b="b"/>
            <a:pathLst>
              <a:path w="4572000" h="438912">
                <a:moveTo>
                  <a:pt x="0" y="0"/>
                </a:moveTo>
                <a:lnTo>
                  <a:pt x="4572000" y="0"/>
                </a:lnTo>
                <a:lnTo>
                  <a:pt x="4572000" y="438912"/>
                </a:lnTo>
                <a:lnTo>
                  <a:pt x="0" y="43891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ec317a78114490f">
              <a:alphaModFix amt="0"/>
            </a:blip>
            <a:stretch>
              <a:fillRect l="0" t="-152969" r="0" b="-152969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1558FF8A-2439-4DE5-B800-85ACE3C3C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881860" y="9957245"/>
            <a:ext cx="3429000" cy="3434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500" b="1">
                <a:solidFill>
                  <a:srgbClr val="FFFFFF"/>
                </a:solidFill>
                <a:latin typeface="Arial Bold"/>
                <a:ea typeface="Arial Bold"/>
                <a:cs typeface="Arial Bold"/>
              </a:rPr>
              <a:t>www.huflit.edu.vn</a:t>
            </a:r>
          </a:p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CBC52A98-86E0-4444-A852-2450991FB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" y="9491472"/>
            <a:ext cx="10287000" cy="301752"/>
          </a:xfrm>
          <a:custGeom xmlns:a="http://schemas.openxmlformats.org/drawingml/2006/main">
            <a:rect l="l" t="t" r="r" b="b"/>
            <a:pathLst>
              <a:path w="13716000" h="402336">
                <a:moveTo>
                  <a:pt x="0" y="0"/>
                </a:moveTo>
                <a:lnTo>
                  <a:pt x="13716000" y="0"/>
                </a:lnTo>
                <a:lnTo>
                  <a:pt x="13716000" y="402336"/>
                </a:lnTo>
                <a:lnTo>
                  <a:pt x="0" y="40233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ec317a78114490f">
              <a:alphaModFix amt="0"/>
            </a:blip>
            <a:stretch>
              <a:fillRect l="0" t="-614262" r="0" b="-614262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AA3C868B-5D6B-4DD8-A140-D40AEA09C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" y="9477185"/>
            <a:ext cx="10287000" cy="3160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620"/>
              </a:lnSpc>
              <a:buNone/>
            </a:pPr>
            <a:r>
              <a:rPr sz="1350">
                <a:solidFill>
                  <a:srgbClr val="595959"/>
                </a:solidFill>
                <a:latin typeface="Arial"/>
                <a:ea typeface="Arial"/>
                <a:cs typeface="Arial"/>
              </a:rPr>
              <a:t>Chương 4 · Kết quả đạt được</a:t>
            </a:r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B464C150-FF46-4146-97FF-8D6B4FF94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167360" y="9491472"/>
            <a:ext cx="1097280" cy="301752"/>
          </a:xfrm>
          <a:custGeom xmlns:a="http://schemas.openxmlformats.org/drawingml/2006/main">
            <a:rect l="l" t="t" r="r" b="b"/>
            <a:pathLst>
              <a:path w="1463040" h="402336">
                <a:moveTo>
                  <a:pt x="0" y="0"/>
                </a:moveTo>
                <a:lnTo>
                  <a:pt x="1463040" y="0"/>
                </a:lnTo>
                <a:lnTo>
                  <a:pt x="1463040" y="402336"/>
                </a:lnTo>
                <a:lnTo>
                  <a:pt x="0" y="40233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ec317a78114490f">
              <a:alphaModFix amt="0"/>
            </a:blip>
            <a:stretch>
              <a:fillRect l="0" t="-20854" r="0" b="-20854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E174F17E-CA73-4DE8-954C-63DE13E2C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167360" y="9477185"/>
            <a:ext cx="1097280" cy="3160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ts val="1620"/>
              </a:lnSpc>
              <a:buNone/>
            </a:pPr>
            <a:r>
              <a:rPr sz="1350">
                <a:solidFill>
                  <a:srgbClr val="595959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CA9C585D-7837-47AE-9ACF-33AB087E5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380" y="576072"/>
            <a:ext cx="16733520" cy="411480"/>
          </a:xfrm>
          <a:custGeom xmlns:a="http://schemas.openxmlformats.org/drawingml/2006/main">
            <a:rect l="l" t="t" r="r" b="b"/>
            <a:pathLst>
              <a:path w="22311361" h="548640">
                <a:moveTo>
                  <a:pt x="0" y="0"/>
                </a:moveTo>
                <a:lnTo>
                  <a:pt x="22311361" y="0"/>
                </a:lnTo>
                <a:lnTo>
                  <a:pt x="22311361" y="548640"/>
                </a:lnTo>
                <a:lnTo>
                  <a:pt x="0" y="54864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ec317a78114490f">
              <a:alphaModFix amt="0"/>
            </a:blip>
            <a:stretch>
              <a:fillRect l="0" t="-742391" r="0" b="-742391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179C6DEF-26DD-46BC-8746-DFEDFDAFD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380" y="561785"/>
            <a:ext cx="16733520" cy="4257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070"/>
              </a:lnSpc>
              <a:buNone/>
            </a:pPr>
            <a:r>
              <a:rPr sz="1725" b="1" spc="225">
                <a:solidFill>
                  <a:srgbClr val="EE6821"/>
                </a:solidFill>
                <a:latin typeface="Arial Bold"/>
                <a:ea typeface="Arial Bold"/>
                <a:cs typeface="Arial Bold"/>
              </a:rPr>
              <a:t>CHƯƠNG 4 · KẾT QUẢ THỰC NGHIỆM</a:t>
            </a:r>
          </a:p>
        </p:txBody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21D4CF33-5C01-4A84-8252-0F6F47E1D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380" y="987552"/>
            <a:ext cx="16733520" cy="850392"/>
          </a:xfrm>
          <a:custGeom xmlns:a="http://schemas.openxmlformats.org/drawingml/2006/main">
            <a:rect l="l" t="t" r="r" b="b"/>
            <a:pathLst>
              <a:path w="22311361" h="1133856">
                <a:moveTo>
                  <a:pt x="0" y="0"/>
                </a:moveTo>
                <a:lnTo>
                  <a:pt x="22311361" y="0"/>
                </a:lnTo>
                <a:lnTo>
                  <a:pt x="22311361" y="1133856"/>
                </a:lnTo>
                <a:lnTo>
                  <a:pt x="0" y="113385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ec317a78114490f">
              <a:alphaModFix amt="0"/>
            </a:blip>
            <a:stretch>
              <a:fillRect l="0" t="-333415" r="0" b="-333415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1DC0FFED-C70B-460F-A61D-6F03A867B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380" y="966121"/>
            <a:ext cx="16733520" cy="871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960"/>
              </a:lnSpc>
              <a:buNone/>
            </a:pPr>
            <a:r>
              <a:rPr sz="3300" b="1">
                <a:solidFill>
                  <a:srgbClr val="17459E"/>
                </a:solidFill>
                <a:latin typeface="Arial Bold"/>
                <a:ea typeface="Arial Bold"/>
                <a:cs typeface="Arial Bold"/>
              </a:rPr>
              <a:t>Kết quả công bố khoa học</a:t>
            </a:r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D718EC40-FFBA-45DE-8304-89A896226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100">
            <a:off x="742464" y="1942909"/>
            <a:ext cx="16071552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17459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7CBF34AA-E690-4436-92A8-818E595ED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664940" y="1837944"/>
            <a:ext cx="864108" cy="219456"/>
          </a:xfrm>
          <a:custGeom xmlns:a="http://schemas.openxmlformats.org/drawingml/2006/main">
            <a:rect l="l" t="t" r="r" b="b"/>
            <a:pathLst>
              <a:path w="1152144" h="292608">
                <a:moveTo>
                  <a:pt x="0" y="292608"/>
                </a:moveTo>
                <a:lnTo>
                  <a:pt x="73152" y="0"/>
                </a:lnTo>
                <a:lnTo>
                  <a:pt x="1152144" y="0"/>
                </a:lnTo>
                <a:lnTo>
                  <a:pt x="1078992" y="292608"/>
                </a:lnTo>
                <a:close/>
              </a:path>
            </a:pathLst>
          </a:custGeom>
          <a:solidFill xmlns:a="http://schemas.openxmlformats.org/drawingml/2006/main">
            <a:srgbClr val="EE682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997D3789-7AAA-4991-B898-B171E1BEE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29500" y="2524125"/>
            <a:ext cx="9620250" cy="4429125"/>
          </a:xfrm>
          <a:custGeom xmlns:a="http://schemas.openxmlformats.org/drawingml/2006/main">
            <a:rect l="l" t="t" r="r" b="b"/>
            <a:pathLst>
              <a:path w="6761480" h="4871720">
                <a:moveTo>
                  <a:pt x="0" y="110236"/>
                </a:moveTo>
                <a:cubicBezTo>
                  <a:pt x="0" y="49403"/>
                  <a:pt x="49403" y="0"/>
                  <a:pt x="110236" y="0"/>
                </a:cubicBezTo>
                <a:lnTo>
                  <a:pt x="6651244" y="0"/>
                </a:lnTo>
                <a:cubicBezTo>
                  <a:pt x="6712203" y="0"/>
                  <a:pt x="6761480" y="49403"/>
                  <a:pt x="6761480" y="110236"/>
                </a:cubicBezTo>
                <a:lnTo>
                  <a:pt x="6761480" y="4761484"/>
                </a:lnTo>
                <a:cubicBezTo>
                  <a:pt x="6761480" y="4822444"/>
                  <a:pt x="6712076" y="4871720"/>
                  <a:pt x="6651244" y="4871720"/>
                </a:cubicBezTo>
                <a:lnTo>
                  <a:pt x="110236" y="4871720"/>
                </a:lnTo>
                <a:cubicBezTo>
                  <a:pt x="49276" y="4871720"/>
                  <a:pt x="0" y="4822317"/>
                  <a:pt x="0" y="476148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9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23D52237-BF4B-4C94-9ABF-DB19F80DA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8250" y="2381250"/>
            <a:ext cx="1666875" cy="400050"/>
          </a:xfrm>
          <a:custGeom xmlns:a="http://schemas.openxmlformats.org/drawingml/2006/main">
            <a:rect l="l" t="t" r="r" b="b"/>
            <a:pathLst>
              <a:path w="1737360" h="475488">
                <a:moveTo>
                  <a:pt x="0" y="109728"/>
                </a:moveTo>
                <a:cubicBezTo>
                  <a:pt x="0" y="49149"/>
                  <a:pt x="49149" y="0"/>
                  <a:pt x="109728" y="0"/>
                </a:cubicBezTo>
                <a:lnTo>
                  <a:pt x="1627632" y="0"/>
                </a:lnTo>
                <a:cubicBezTo>
                  <a:pt x="1688211" y="0"/>
                  <a:pt x="1737360" y="49149"/>
                  <a:pt x="1737360" y="109728"/>
                </a:cubicBezTo>
                <a:lnTo>
                  <a:pt x="1737360" y="365760"/>
                </a:lnTo>
                <a:cubicBezTo>
                  <a:pt x="1737360" y="426339"/>
                  <a:pt x="1688211" y="475488"/>
                  <a:pt x="1627632" y="475488"/>
                </a:cubicBezTo>
                <a:lnTo>
                  <a:pt x="109728" y="475488"/>
                </a:lnTo>
                <a:cubicBezTo>
                  <a:pt x="49149" y="475488"/>
                  <a:pt x="0" y="426339"/>
                  <a:pt x="0" y="365760"/>
                </a:cubicBezTo>
                <a:close/>
              </a:path>
            </a:pathLst>
          </a:custGeom>
          <a:solidFill xmlns:a="http://schemas.openxmlformats.org/drawingml/2006/main">
            <a:srgbClr val="17459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65F03F5D-63C3-421D-9BCE-90DB882E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8250" y="2381250"/>
            <a:ext cx="1666875" cy="400050"/>
          </a:xfrm>
          <a:custGeom xmlns:a="http://schemas.openxmlformats.org/drawingml/2006/main">
            <a:rect l="l" t="t" r="r" b="b"/>
            <a:pathLst>
              <a:path w="1737360" h="475488">
                <a:moveTo>
                  <a:pt x="0" y="0"/>
                </a:moveTo>
                <a:lnTo>
                  <a:pt x="1737360" y="0"/>
                </a:lnTo>
                <a:lnTo>
                  <a:pt x="1737360" y="475488"/>
                </a:lnTo>
                <a:lnTo>
                  <a:pt x="0" y="475488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ec317a78114490f">
              <a:alphaModFix amt="0"/>
            </a:blip>
            <a:stretch>
              <a:fillRect l="0" t="-21195" r="0" b="-21195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BFB7C4F2-9F94-49ED-B17C-09DDB7BF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8250" y="2366963"/>
            <a:ext cx="1666875" cy="414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530"/>
              </a:lnSpc>
              <a:buNone/>
            </a:pPr>
            <a:r>
              <a:rPr sz="1275" b="1">
                <a:solidFill>
                  <a:srgbClr val="FFFFFF"/>
                </a:solidFill>
                <a:latin typeface="Arial Bold"/>
                <a:ea typeface="Arial Bold"/>
                <a:cs typeface="Arial Bold"/>
              </a:rPr>
              <a:t>ACCEPTED</a:t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080AE51B-2FC5-4786-8820-98CE4EE96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15250" y="6600825"/>
            <a:ext cx="90487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59"/>
              </a:lnSpc>
              <a:buNone/>
            </a:pPr>
            <a:r>
              <a:rPr sz="1549" b="1">
                <a:solidFill>
                  <a:srgbClr val="595959"/>
                </a:solidFill>
                <a:latin typeface="Arial Bold"/>
                <a:ea typeface="Arial Bold"/>
                <a:cs typeface="Arial Bold"/>
              </a:rPr>
              <a:t>Tác giả: Hạnh Nguyễn · Nguyễn Nguyễn · Tuấn Nguyễn</a:t>
            </a:r>
          </a:p>
        </p:txBody>
      </p:sp>
      <p:sp>
        <p:nvSpPr>
          <p:cNvPr id="61" name="TextBox 61">
            <a:extLst xmlns:a="http://schemas.openxmlformats.org/drawingml/2006/main">
              <a:ext uri="{FF2B5EF4-FFF2-40B4-BE49-F238E27FC236}">
                <a16:creationId xmlns:a16="http://schemas.microsoft.com/office/drawing/2014/main" id="{DB962840-F3F3-4468-84B3-7B028F573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90875"/>
            <a:ext cx="5429250" cy="904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0"/>
              </a:lnSpc>
              <a:buNone/>
            </a:pPr>
            <a:r>
              <a:rPr sz="2700" b="1">
                <a:solidFill>
                  <a:srgbClr val="17459E"/>
                </a:solidFill>
                <a:latin typeface="Arial Bold"/>
                <a:ea typeface="Arial Bold"/>
                <a:cs typeface="Arial Bold"/>
              </a:rPr>
              <a:t>Được chấp nhận tại FDSE</a:t>
            </a:r>
          </a:p>
        </p:txBody>
      </p:sp>
      <p:sp>
        <p:nvSpPr>
          <p:cNvPr id="62" name="TextBox 62">
            <a:extLst xmlns:a="http://schemas.openxmlformats.org/drawingml/2006/main">
              <a:ext uri="{FF2B5EF4-FFF2-40B4-BE49-F238E27FC236}">
                <a16:creationId xmlns:a16="http://schemas.microsoft.com/office/drawing/2014/main" id="{596BE4FC-E51C-4096-BE0F-26EDB78F9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29125"/>
            <a:ext cx="5429250" cy="1381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311"/>
              </a:lnSpc>
              <a:buNone/>
            </a:pPr>
            <a:r>
              <a:rPr sz="2400">
                <a:solidFill>
                  <a:srgbClr val="595959"/>
                </a:solidFill>
                <a:latin typeface="Arial"/>
                <a:ea typeface="Arial"/>
                <a:cs typeface="Arial"/>
              </a:rPr>
              <a:t>Bài báo phát triển từ kết quả nghiên cứu của khóa luận.</a:t>
            </a:r>
          </a:p>
        </p:txBody>
      </p:sp>
      <p:sp>
        <p:nvSpPr>
          <p:cNvPr id="63" name="TextBox 63">
            <a:extLst xmlns:a="http://schemas.openxmlformats.org/drawingml/2006/main">
              <a:ext uri="{FF2B5EF4-FFF2-40B4-BE49-F238E27FC236}">
                <a16:creationId xmlns:a16="http://schemas.microsoft.com/office/drawing/2014/main" id="{712579A0-1594-4349-902D-2042A2F57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191250"/>
            <a:ext cx="54292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2000" b="1">
                <a:solidFill>
                  <a:srgbClr val="EE6821"/>
                </a:solidFill>
                <a:latin typeface="Arial Bold"/>
                <a:ea typeface="Arial Bold"/>
                <a:cs typeface="Arial Bold"/>
              </a:rPr>
              <a:t>Được chấp nhận đăng trong kỷ yếu do Springer xuất bản.</a:t>
            </a:r>
          </a:p>
        </p:txBody>
      </p:sp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efa116f3de4f5e"/>
          <a:stretch xmlns:a="http://schemas.openxmlformats.org/drawingml/2006/main"/>
        </p:blipFill>
        <p:spPr>
          <a:xfrm xmlns:a="http://schemas.openxmlformats.org/drawingml/2006/main">
            <a:off x="7918989" y="2952750"/>
            <a:ext cx="8641273" cy="3333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45752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2026-08-25T17:35:10.6070000Z</dcterms:created>
  <dcterms:modified xsi:type="dcterms:W3CDTF">2026-08-25T17:35:10.6070000Z</dcterms:modified>
</coreProperties>
</file>